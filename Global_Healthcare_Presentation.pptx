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081E40"/>
          </a:solidFill>
          <a:ln w="12700">
            <a:solidFill>
              <a:srgbClr val="08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685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🏥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840480" y="64008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40480" y="39319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&amp; Data Analysis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0" y="4617720"/>
            <a:ext cx="77724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754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</a:t>
            </a:r>
            <a:pPr indent="0" marL="0">
              <a:buNone/>
            </a:pPr>
            <a:r>
              <a:rPr lang="en-US" sz="14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Business Analyst  |  github.com/harshaug28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5166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Crisis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million people die from preventable diseases every year — not because cures don't exist, but because healthcare is out of reach.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474720" cy="1828800"/>
          </a:xfrm>
          <a:prstGeom prst="rect">
            <a:avLst/>
          </a:prstGeom>
          <a:solidFill>
            <a:srgbClr val="FFE5E5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Million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deaths every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474720" cy="1828800"/>
          </a:xfrm>
          <a:prstGeom prst="rect">
            <a:avLst/>
          </a:prstGeom>
          <a:solidFill>
            <a:srgbClr val="FFF3CD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297680" y="2423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healthcare spend per person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Sub-Saharan Africa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3474720" cy="1828800"/>
          </a:xfrm>
          <a:prstGeom prst="rect">
            <a:avLst/>
          </a:prstGeom>
          <a:solidFill>
            <a:srgbClr val="D4EDD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 yrs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gap vs.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nations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95020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86200"/>
            <a:ext cx="11411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carries 24% of global disease burden with just 1% of global health spending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407408"/>
            <a:ext cx="118872" cy="1188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343400"/>
            <a:ext cx="11411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countries fall below the critical Access Index of 50 — all in Africa or South Asia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864608"/>
            <a:ext cx="118872" cy="1188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800600"/>
            <a:ext cx="11411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LMIC healthcare returns $4 in economic productivity (WHO)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5321808"/>
            <a:ext cx="118872" cy="1188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5257800"/>
            <a:ext cx="11411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vaccination to 95%+ coverage could prevent 1.5 million child deaths per year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Spending vs. Life Expectancy</a:t>
            </a:r>
            <a:endParaRPr lang="en-US" sz="2800" dirty="0"/>
          </a:p>
        </p:txBody>
      </p:sp>
      <p:pic>
        <p:nvPicPr>
          <p:cNvPr id="5" name="Image 0" descr="/home/claude/final-project/visualizations/spending_vs_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77724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914400"/>
            <a:ext cx="3657600" cy="1234440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1298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0.658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0" y="2331720"/>
            <a:ext cx="3657600" cy="123444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21040" y="27157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0" y="3749040"/>
            <a:ext cx="3657600" cy="1234440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2104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21040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curve — first $500 matters most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" y="5349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relationship — countries that invest more in healthcare live significantly longer lives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 Mortality by Region</a:t>
            </a:r>
            <a:endParaRPr lang="en-US" sz="2800" dirty="0"/>
          </a:p>
        </p:txBody>
      </p:sp>
      <p:pic>
        <p:nvPicPr>
          <p:cNvPr id="5" name="Image 0" descr="/home/claude/final-project/visualizations/mortality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7772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868680"/>
            <a:ext cx="374904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886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886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5.1/1k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1536192"/>
            <a:ext cx="374904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5.4/1k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0" y="2203704"/>
            <a:ext cx="3749040" cy="566928"/>
          </a:xfrm>
          <a:prstGeom prst="rect">
            <a:avLst/>
          </a:prstGeom>
          <a:solidFill>
            <a:srgbClr val="FFF3C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2221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0" y="2221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14.5/1k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0" y="2871216"/>
            <a:ext cx="3749040" cy="566928"/>
          </a:xfrm>
          <a:prstGeom prst="rect">
            <a:avLst/>
          </a:prstGeom>
          <a:solidFill>
            <a:srgbClr val="FFE0B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28895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0" y="28895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22.2/1k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0" y="3538728"/>
            <a:ext cx="3749040" cy="566928"/>
          </a:xfrm>
          <a:prstGeom prst="rect">
            <a:avLst/>
          </a:prstGeom>
          <a:solidFill>
            <a:srgbClr val="FFD0C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35570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0" y="35570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40.9/1k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0" y="4206240"/>
            <a:ext cx="3749040" cy="566928"/>
          </a:xfrm>
          <a:prstGeom prst="rect">
            <a:avLst/>
          </a:prstGeom>
          <a:solidFill>
            <a:srgbClr val="FFBAB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4224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515600" y="4224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94.6/1k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0040" y="50749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Africa's rate is 18× higher than North America's — almost entirely from preventable causes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 Performance — Regional Scorecard</a:t>
            </a:r>
            <a:endParaRPr lang="en-US" sz="2600" dirty="0"/>
          </a:p>
        </p:txBody>
      </p:sp>
      <p:pic>
        <p:nvPicPr>
          <p:cNvPr id="5" name="Image 0" descr="/home/claude/final-project/visualizations/disease_burde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2960"/>
            <a:ext cx="8686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2560" y="868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06840" y="1325880"/>
            <a:ext cx="2926080" cy="914400"/>
          </a:xfrm>
          <a:prstGeom prst="rect">
            <a:avLst/>
          </a:prstGeom>
          <a:solidFill>
            <a:srgbClr val="F8FAFB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828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scores critically low across ALL five dimensions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006840" y="2377440"/>
            <a:ext cx="2926080" cy="914400"/>
          </a:xfrm>
          <a:prstGeom prst="rect">
            <a:avLst/>
          </a:prstGeom>
          <a:solidFill>
            <a:srgbClr val="F8FAFB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98280" y="2423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dimension shows a relative strength in the worst-performing regions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06840" y="3429000"/>
            <a:ext cx="2926080" cy="914400"/>
          </a:xfrm>
          <a:prstGeom prst="rect">
            <a:avLst/>
          </a:prstGeom>
          <a:solidFill>
            <a:srgbClr val="F8FAFB"/>
          </a:solidFill>
          <a:ln w="254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98280" y="3474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North America perform near-equally — marginal differences only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06840" y="4480560"/>
            <a:ext cx="2926080" cy="914400"/>
          </a:xfrm>
          <a:prstGeom prst="rect">
            <a:avLst/>
          </a:prstGeom>
          <a:solidFill>
            <a:srgbClr val="F8FAFB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98280" y="4526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Asia: moderate vaccination, very low physicians &amp; access scores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Distribution &amp; Correlation Analysis</a:t>
            </a:r>
            <a:endParaRPr lang="en-US" sz="2600" dirty="0"/>
          </a:p>
        </p:txBody>
      </p:sp>
      <p:pic>
        <p:nvPicPr>
          <p:cNvPr id="5" name="Image 0" descr="/home/claude/final-project/visualizations/access_index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2960"/>
            <a:ext cx="8686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2560" y="868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Found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06840" y="1325880"/>
            <a:ext cx="2926080" cy="914400"/>
          </a:xfrm>
          <a:prstGeom prst="rect">
            <a:avLst/>
          </a:prstGeom>
          <a:solidFill>
            <a:srgbClr val="FFBABA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9828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↔ Mortality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0982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−0.896  ·  Very Strong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006840" y="2377440"/>
            <a:ext cx="2926080" cy="914400"/>
          </a:xfrm>
          <a:prstGeom prst="rect">
            <a:avLst/>
          </a:prstGeom>
          <a:solidFill>
            <a:srgbClr val="FFE0B2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98280" y="2404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↔ Life Exp.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982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+0.720  ·  Strong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06840" y="3429000"/>
            <a:ext cx="2926080" cy="914400"/>
          </a:xfrm>
          <a:prstGeom prst="rect">
            <a:avLst/>
          </a:prstGeom>
          <a:solidFill>
            <a:srgbClr val="FFF9C4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098280" y="3456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↔ Life Exp.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0982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+0.658  ·  Strong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06840" y="4480560"/>
            <a:ext cx="2926080" cy="91440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98280" y="4507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↔ Mortality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09828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−0.575  ·  Moderate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544068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Index is the single strongest predictor of child mortality — stronger than spending alone. All correlations: p &lt; 0.001.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Healthcare Access by Region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645920"/>
                <a:gridCol w="1371600"/>
                <a:gridCol w="384048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Near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Near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Asia-Pacific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Action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Significant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Sub-Saharan Africa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 /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Crisis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4846320"/>
            <a:ext cx="11521440" cy="640080"/>
          </a:xfrm>
          <a:prstGeom prst="rect">
            <a:avLst/>
          </a:prstGeom>
          <a:solidFill>
            <a:srgbClr val="FFF3CD"/>
          </a:solidFill>
          <a:ln w="25400">
            <a:solidFill>
              <a:srgbClr val="E67E22"/>
            </a:solidFill>
          </a:ln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cycle + fragmented international aid → underfunded budgets → inadequate infrastructure → inaccessible care → preventable deaths → reduced economic productivity → lower tax revenue → less health investment.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00" cy="5120640"/>
          </a:xfrm>
          <a:prstGeom prst="rect">
            <a:avLst/>
          </a:prstGeom>
          <a:solidFill>
            <a:srgbClr val="F8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868680"/>
            <a:ext cx="0" cy="51206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3429000"/>
            <a:ext cx="5486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59618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59618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60120"/>
            <a:ext cx="2560320" cy="365760"/>
          </a:xfrm>
          <a:prstGeom prst="rect">
            <a:avLst/>
          </a:prstGeom>
          <a:solidFill>
            <a:srgbClr val="FFF3C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78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SATISFIED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960120"/>
            <a:ext cx="2560320" cy="365760"/>
          </a:xfrm>
          <a:prstGeom prst="rect">
            <a:avLst/>
          </a:prstGeom>
          <a:solidFill>
            <a:srgbClr val="D4EDD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78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CLOSELY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2560320" cy="365760"/>
          </a:xfrm>
          <a:prstGeom prst="rect">
            <a:avLst/>
          </a:prstGeom>
          <a:solidFill>
            <a:srgbClr val="F8FA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38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520440"/>
            <a:ext cx="2560320" cy="365760"/>
          </a:xfrm>
          <a:prstGeom prst="rect">
            <a:avLst/>
          </a:prstGeom>
          <a:solidFill>
            <a:srgbClr val="D6E8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538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15087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05740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15087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057400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886200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3886200"/>
            <a:ext cx="164592" cy="16459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4389120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572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475488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4937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868680"/>
          <a:ext cx="594360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828800"/>
                <a:gridCol w="1280160"/>
              </a:tblGrid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/ World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formal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Ministries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milestone briefings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Bi-monthly workshops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exec brief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findings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stand-up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3794760" cy="5074920"/>
          </a:xfrm>
          <a:prstGeom prst="rect">
            <a:avLst/>
          </a:prstGeom>
          <a:solidFill>
            <a:srgbClr val="FFE5E5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37947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869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 Months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15% of donor aid to Sub-Saharan Africa's top-5 preventable disease programmes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8152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vaccination campaigns in 9 Critical Zone countries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40740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500 mobile clinic units across rural Africa &amp; South Asia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868680"/>
            <a:ext cx="3794760" cy="5074920"/>
          </a:xfrm>
          <a:prstGeom prst="rect">
            <a:avLst/>
          </a:prstGeom>
          <a:solidFill>
            <a:srgbClr val="FFF3CD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868680"/>
            <a:ext cx="379476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8869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Years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173736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75564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10,000 medical scholarships across LMIC nations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306324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08152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Electronic Health Records (EHR) in all LMICs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40740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12 Regional Healthcare Hubs via public-private partnership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868680"/>
            <a:ext cx="3794760" cy="5074920"/>
          </a:xfrm>
          <a:prstGeom prst="rect">
            <a:avLst/>
          </a:prstGeom>
          <a:solidFill>
            <a:srgbClr val="D4EDDA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868680"/>
            <a:ext cx="379476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8869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Years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21040" y="173736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175564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 Coverage legislation for Access Index &lt; 50 countries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06324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08152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early-warning systems in 50+ LMIC nations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4389120"/>
            <a:ext cx="35204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407408"/>
            <a:ext cx="34290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medicine price regulation — target −40% cost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029200" cy="1234440"/>
          </a:xfrm>
          <a:prstGeom prst="rect">
            <a:avLst/>
          </a:prstGeom>
          <a:solidFill>
            <a:srgbClr val="D4EDDA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86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invested → $4 returned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return from healthcare investment in LMICs (WHO)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841248"/>
            <a:ext cx="6309360" cy="1234440"/>
          </a:xfrm>
          <a:prstGeom prst="rect">
            <a:avLst/>
          </a:prstGeom>
          <a:solidFill>
            <a:srgbClr val="D6E8F7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88696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$450B over 10 years = 0.5% of global GDP/yr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close the Sub-Saharan Africa healthcare funding gap entirely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11612880" cy="347472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1828800"/>
                <a:gridCol w="1097280"/>
                <a:gridCol w="356616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Saved/yr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5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vaccination programmes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~1.5M children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0–12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clinic network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~300K people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6–18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 training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$1.2B (5-yr)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systemic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infrastructure grants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~600K people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disease surveillance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$450M (setup)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~500K/outbreak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|  github.com/harshaug28  |  Global Healthcare Crisis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is clear — healthcare inequity is one of the most pressing and solvable crises of our time. The gap between what is medically possible and what billions of people actually receive is a policy failure, not a scientific one."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11338560" cy="749808"/>
          </a:xfrm>
          <a:prstGeom prst="rect">
            <a:avLst/>
          </a:prstGeom>
          <a:solidFill>
            <a:srgbClr val="0D1F3C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4436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944368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statistical evidence links access, investment, and workforce to better health outcomes across all regions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822192"/>
            <a:ext cx="11338560" cy="749808"/>
          </a:xfrm>
          <a:prstGeom prst="rect">
            <a:avLst/>
          </a:prstGeom>
          <a:solidFill>
            <a:srgbClr val="0D1F3C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384048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countries in crisis-level zones require immediate, coordinated intervention — all solutions are proven and scalable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718304"/>
            <a:ext cx="11338560" cy="749808"/>
          </a:xfrm>
          <a:prstGeom prst="rect">
            <a:avLst/>
          </a:prstGeom>
          <a:solidFill>
            <a:srgbClr val="0D1F3C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3659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4736592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is undeniable: $1 invested returns $4, and closing Africa's funding gap costs less than 0.5% of global GDP annually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4712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Patel  </a:t>
            </a:r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Business Analyst  |  github.com/harshaug28  | 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Healthcare Crisis — Business Analysis</dc:title>
  <dc:subject>PptxGenJS Presentation</dc:subject>
  <dc:creator>Harsh Patel</dc:creator>
  <cp:lastModifiedBy>Harsh Patel</cp:lastModifiedBy>
  <cp:revision>1</cp:revision>
  <dcterms:created xsi:type="dcterms:W3CDTF">2026-03-08T21:05:13Z</dcterms:created>
  <dcterms:modified xsi:type="dcterms:W3CDTF">2026-03-08T21:05:13Z</dcterms:modified>
</cp:coreProperties>
</file>